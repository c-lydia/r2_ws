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3.jpeg" ContentType="image/jpe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0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s/comment4.xml" ContentType="application/vnd.openxmlformats-officedocument.presentationml.comments+xml"/>
  <Override PartName="/ppt/comments/comment7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7772400" cy="10058400"/>
</p:presentation>
</file>

<file path=ppt/commentAuthors.xml><?xml version="1.0" encoding="utf-8"?>
<p:cmAuthorLst xmlns:p="http://schemas.openxmlformats.org/presentationml/2006/main">
  <p:cmAuthor id="0" name="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presProps" Target="presProps.xml"/><Relationship Id="rId45" Type="http://schemas.openxmlformats.org/officeDocument/2006/relationships/commentAuthors" Target="commentAuthors.xml"/>
</Relationships>
</file>

<file path=ppt/comments/comment4.xml><?xml version="1.0" encoding="utf-8"?>
<p:cmLst xmlns:p="http://schemas.openxmlformats.org/presentationml/2006/main">
  <p:cm authorId="0" dt="2026-02-18T11:07:02.000000000" idx="1">
    <p:pos x="0" y="0"/>
    <p:text>`</p:text>
  </p:cm>
</p:cmLst>
</file>

<file path=ppt/comments/comment7.xml><?xml version="1.0" encoding="utf-8"?>
<p:cmLst xmlns:p="http://schemas.openxmlformats.org/presentationml/2006/main">
  <p:cm authorId="0" dt="2026-02-18T11:05:22.000000000" idx="2">
    <p:pos x="0" y="0"/>
    <p:text/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C62BED-F629-49BC-A62C-D6332ABC72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9C5F60-A7B6-4260-AF91-C8C36724C6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775BF6-A693-474C-8408-D198389821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6182AE-1FEE-48E9-97AD-B593CE3498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78CC3D-BC5B-4BB2-9F4E-D22C6E3F9F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1CC00B-8AFC-4F71-9EE1-564036210E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8DA9B8-72A6-45AC-9D29-3E0EF9C9A1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7B34D6-63B3-49A2-B75D-EA1296B43F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192E5D-AFA5-4E2F-9178-91F4876C6F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8AFBA9-F3BE-43CA-B206-811F2A786E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41B31E-BB35-424F-B228-DCC96600EE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DA558D-2751-4785-91AE-7330649087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6610FD-E347-4529-9DF8-64ED391305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B3CD9B-8A78-41FC-8815-8B49F24D21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AB037D3-3DA1-415E-B314-B78431E274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C323322-C0F1-43A4-844C-0198FD8CB0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16B3BC7-8A5D-4391-851B-E335DEBB4F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1FF99F1-0EA2-42F8-92F5-DBF6ADE3BF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53934B-C05F-4FAA-A7FC-5DC32EC521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B8290D8-2D02-4C36-AA17-77DE4522DC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E3107C9-7134-484B-ABA2-383B412EF6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5F6D4A-4FDC-4749-A220-825FDC8DB6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36D2EEE-7189-4C65-BD29-F85AD339EF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E827D6-136D-48EA-97C6-70CA40908E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Bahnschrif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A9FE40-B581-4BF2-BCEA-AA21BEB69D20}" type="slidenum">
              <a:rPr b="0" lang="en-US" sz="1200" spc="-1" strike="noStrike">
                <a:solidFill>
                  <a:srgbClr val="8b8b8b"/>
                </a:solidFill>
                <a:latin typeface="Bahnschrift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Bahnschrif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CA005C-704B-42FF-9025-41F27F72D072}" type="slidenum">
              <a:rPr b="0" lang="en-US" sz="1200" spc="-1" strike="noStrike">
                <a:solidFill>
                  <a:srgbClr val="8b8b8b"/>
                </a:solidFill>
                <a:latin typeface="Bahnschrift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Click to edit the outline text format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omments" Target="../comments/commen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comments" Target="../comments/commen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hyperlink" Target="https://www.irjet.net/archives/V7/i1/IRJET-V7I111.pdf" TargetMode="External"/><Relationship Id="rId2" Type="http://schemas.openxmlformats.org/officeDocument/2006/relationships/hyperlink" Target="https://androidengineers.substack.com/p/constraintlayout-demystified-how" TargetMode="External"/><Relationship Id="rId3" Type="http://schemas.openxmlformats.org/officeDocument/2006/relationships/hyperlink" Target="https://www.tutorialspoint.com/mvc_framework/mvc_framework_architecture.htm" TargetMode="External"/><Relationship Id="rId4" Type="http://schemas.openxmlformats.org/officeDocument/2006/relationships/hyperlink" Target="https://learn.microsoft.com/en-us/dotnet/architecture/maui/mvvm" TargetMode="External"/><Relationship Id="rId5" Type="http://schemas.openxmlformats.org/officeDocument/2006/relationships/hyperlink" Target="https://developer.android.com/develop/ui/views/layout/constraint-layout" TargetMode="External"/><Relationship Id="rId6" Type="http://schemas.openxmlformats.org/officeDocument/2006/relationships/hyperlink" Target="https://ccna-classes.com/ccna-study-resources/unidirectional-link-vs-bidirectional-link-vs-loopback-link/" TargetMode="External"/><Relationship Id="rId7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hyperlink" Target="https://intronetworks.cs.luc.edu/current/html/udp.html" TargetMode="External"/><Relationship Id="rId2" Type="http://schemas.openxmlformats.org/officeDocument/2006/relationships/hyperlink" Target="https://homepages.math.uic.edu/~jan/mcs275/mcs275notes/lec27.html" TargetMode="External"/><Relationship Id="rId3" Type="http://schemas.openxmlformats.org/officeDocument/2006/relationships/hyperlink" Target="https://people.cs.rutgers.edu/~sn624/352-S21/lectures/transport-udp-error-detection.pdf" TargetMode="External"/><Relationship Id="rId4" Type="http://schemas.openxmlformats.org/officeDocument/2006/relationships/hyperlink" Target="https://motion.cs.illinois.edu/RoboticSystems/CoordinateTransformations.html" TargetMode="External"/><Relationship Id="rId5" Type="http://schemas.openxmlformats.org/officeDocument/2006/relationships/hyperlink" Target="https://medium.com/software-architecture-foundations/robot-operating-system-2-ros-2-architecture-731ef1867776" TargetMode="External"/><Relationship Id="rId6" Type="http://schemas.openxmlformats.org/officeDocument/2006/relationships/hyperlink" Target="https://community.rti.com/page/ros-2-what-dds" TargetMode="External"/><Relationship Id="rId7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hyperlink" Target="https://docs.ros.org/en/humble/Concepts/Basic/About-Nodes.html" TargetMode="External"/><Relationship Id="rId2" Type="http://schemas.openxmlformats.org/officeDocument/2006/relationships/hyperlink" Target="https://docs.ros.org/en/humble/Concepts/Basic/About-Topics.html" TargetMode="External"/><Relationship Id="rId3" Type="http://schemas.openxmlformats.org/officeDocument/2006/relationships/hyperlink" Target="http://docs.ros.org/en/humble/Concepts/Basic/About-Interfaces.html" TargetMode="External"/><Relationship Id="rId4" Type="http://schemas.openxmlformats.org/officeDocument/2006/relationships/hyperlink" Target="https://ptolemy.berkeley.edu/projects/chess/eecs124/reading/LeeAndVaraiya3_4.pdf" TargetMode="External"/><Relationship Id="rId5" Type="http://schemas.openxmlformats.org/officeDocument/2006/relationships/hyperlink" Target="https://www.cds.caltech.edu/~murray/courses/cds101/fa02/caltech/astrom-ch6.pdf" TargetMode="External"/><Relationship Id="rId6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hyperlink" Target="https://eng.libretexts.org/Bookshelves/Industrial_and_Systems_Engineering/Chemical_Process_Dynamics_and_Controls_(Woolf)/09:_Proportional-Integral-Derivative_(PID)_Control/9.02:_P_I_D_PI_PD_and_PID_control" TargetMode="External"/><Relationship Id="rId2" Type="http://schemas.openxmlformats.org/officeDocument/2006/relationships/hyperlink" Target="https://cds.cern.ch/record/1100534/files/p73.pdf" TargetMode="External"/><Relationship Id="rId3" Type="http://schemas.openxmlformats.org/officeDocument/2006/relationships/hyperlink" Target="https://cds.cern.ch/record/1100534/files/p73.pdf" TargetMode="External"/><Relationship Id="rId4" Type="http://schemas.openxmlformats.org/officeDocument/2006/relationships/hyperlink" Target="https://cds.cern.ch/record/1100534/files/p73.pdf" TargetMode="External"/><Relationship Id="rId5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26240" y="1202400"/>
            <a:ext cx="11176200" cy="33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>
              <a:lnSpc>
                <a:spcPct val="90000"/>
              </a:lnSpc>
              <a:buNone/>
            </a:pPr>
            <a:br>
              <a:rPr sz="6000"/>
            </a:br>
            <a:r>
              <a:rPr b="0" lang="en-US" sz="6000" spc="-1" strike="noStrike">
                <a:solidFill>
                  <a:srgbClr val="7030a0"/>
                </a:solidFill>
                <a:latin typeface="Bahnschrift"/>
              </a:rPr>
              <a:t>Waypoint Navigation </a:t>
            </a:r>
            <a:r>
              <a:rPr b="0" lang="en-US" sz="6000" spc="-1" strike="noStrike">
                <a:solidFill>
                  <a:srgbClr val="7030a0"/>
                </a:solidFill>
                <a:latin typeface="Bahnschrift"/>
              </a:rPr>
              <a:t>System using Android App: </a:t>
            </a:r>
            <a:r>
              <a:rPr b="0" lang="en-US" sz="6000" spc="-1" strike="noStrike">
                <a:solidFill>
                  <a:srgbClr val="7030a0"/>
                </a:solidFill>
                <a:latin typeface="Bahnschrift"/>
              </a:rPr>
              <a:t>Target_Setter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880" y="501660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Bahnschrift"/>
              </a:rPr>
              <a:t>by 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Bahnschrift"/>
              </a:rPr>
              <a:t>CHHENG Lydiya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Bahnschrift"/>
              </a:rPr>
              <a:t>Date: 20 February 2026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84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169720" cy="215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Contents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16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Background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Objective(s)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Scope of work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Approach(es)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Result &amp; Discussion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Conclusion &amp; Next Steps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Background 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Semi-autonomous waypoint navigation system using custom Android app 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The system has 2 packages: Target_Setter (Android app) and Robot’s control package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Target_Setter is developed to enable navigation without using gamepad as controller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Objectives 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 </a:t>
            </a:r>
            <a:r>
              <a:rPr b="0" lang="en-US" sz="2400" spc="-1" strike="noStrike">
                <a:latin typeface="Arial"/>
              </a:rPr>
              <a:t>Develop and implement waypoint navigation system including edit and return functionalities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Test and evaluate system performance and accuracy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Implement Android interface for semi-autonomous navigation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Scope of work 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38080" y="2057400"/>
            <a:ext cx="9144000" cy="221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  <a:buNone/>
            </a:pPr>
            <a:r>
              <a:rPr b="0" lang="en-US" sz="2000" spc="-1" strike="noStrike">
                <a:latin typeface="Arial"/>
              </a:rPr>
              <a:t>This project covers: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Android application development (Target_Setter)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Communication system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Robotic software development (ROS2)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System integration and testing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Scope of work 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914400" y="1828800"/>
            <a:ext cx="9144000" cy="30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  <a:buNone/>
            </a:pPr>
            <a:r>
              <a:rPr b="0" lang="en-US" sz="2000" spc="-1" strike="noStrike">
                <a:latin typeface="Arial"/>
              </a:rPr>
              <a:t>This project does not include: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Full autonomous robot navigation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Sensor fusion beyond basic odometry and IMU integration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Algorithm optimization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Low-level communication protocol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Hardware-level motor driver design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Network security mechanism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920" y="468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0" y="1139760"/>
            <a:ext cx="464832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System Architecture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092600" y="2097000"/>
            <a:ext cx="10157040" cy="334080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 txBox="1"/>
          <p:nvPr/>
        </p:nvSpPr>
        <p:spPr>
          <a:xfrm>
            <a:off x="1143000" y="5486400"/>
            <a:ext cx="9144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  <a:buNone/>
            </a:pPr>
            <a:r>
              <a:rPr b="0" lang="en-US" sz="2000" spc="-1" strike="noStrike">
                <a:latin typeface="Arial"/>
              </a:rPr>
              <a:t>This is the high-level architecture of the system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920" y="468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0.1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0" y="1139760"/>
            <a:ext cx="75438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System Architecture: Android app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6767640" y="1384200"/>
            <a:ext cx="5119560" cy="4559400"/>
          </a:xfrm>
          <a:prstGeom prst="rect">
            <a:avLst/>
          </a:prstGeom>
          <a:ln w="0">
            <a:noFill/>
          </a:ln>
        </p:spPr>
      </p:pic>
      <p:sp>
        <p:nvSpPr>
          <p:cNvPr id="102" name=""/>
          <p:cNvSpPr txBox="1"/>
          <p:nvPr/>
        </p:nvSpPr>
        <p:spPr>
          <a:xfrm>
            <a:off x="685800" y="1828800"/>
            <a:ext cx="5029200" cy="30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Works based on touch input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Implemented virtual joystick for yaw control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Used MVC architectural pattern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Communicated with ROS2 via UDP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Android app handled all gamefield scaling and waypoints calculation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920" y="468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0.1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0" y="1139760"/>
            <a:ext cx="75438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System Architecture: ROS2 package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85800" y="1880280"/>
            <a:ext cx="5029200" cy="263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Takes inputs from Android app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Implemented PD controller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Used ROS2 framework to operate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Communicated with app via UDP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Handled all control logic, feedback, and navigation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6063840" y="2048040"/>
            <a:ext cx="5945760" cy="389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0.1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75438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Android app design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143000" y="2514600"/>
            <a:ext cx="7315200" cy="21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MVC architecture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Percentage-based coordinate storage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ConstraintLayout for scalability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828800" y="4833720"/>
            <a:ext cx="8229600" cy="110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50000"/>
              </a:lnSpc>
              <a:buNone/>
            </a:pPr>
            <a:r>
              <a:rPr b="0" lang="en-US" sz="2000" spc="-1" strike="noStrike">
                <a:latin typeface="Arial"/>
              </a:rPr>
              <a:t>Initial version didn’t include edit and return functionalities, just basic waypoints input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0.1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75438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Communication system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85800" y="2286000"/>
            <a:ext cx="5943600" cy="21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UDP-based communication protocol (low latency)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JSON array UDP packet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Handshake mechanism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6400800" y="1610280"/>
            <a:ext cx="4935600" cy="480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0.1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75438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Coordinate scaling: Target_Setter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57200" y="2057400"/>
            <a:ext cx="5943600" cy="21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waypoint in global reference frame is given by: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8" name=""/>
              <p:cNvSpPr txBox="1"/>
              <p:nvPr/>
            </p:nvSpPr>
            <p:spPr>
              <a:xfrm>
                <a:off x="829800" y="3429000"/>
                <a:ext cx="4568400" cy="456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g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W</m:t>
                            </m:r>
                          </m:e>
                          <m:sub>
                            <m:r>
                              <m:t xml:space="preserve">g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W</m:t>
                            </m:r>
                          </m:e>
                          <m:sub>
                            <m:r>
                              <m:t xml:space="preserve">s</m:t>
                            </m:r>
                          </m:sub>
                        </m:sSub>
                      </m:den>
                    </m:f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input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offset</m:t>
                            </m:r>
                          </m:sub>
                        </m:sSub>
                      </m:e>
                    </m:d>
                    <m:r>
                      <m:t xml:space="preserve">,</m:t>
                    </m:r>
                    <m:sSub>
                      <m:e>
                        <m:r>
                          <m:t xml:space="preserve">y</m:t>
                        </m:r>
                      </m:e>
                      <m:sub>
                        <m:r>
                          <m:t xml:space="preserve">g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H</m:t>
                            </m:r>
                          </m:e>
                          <m:sub>
                            <m:r>
                              <m:t xml:space="preserve">g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H</m:t>
                            </m:r>
                          </m:e>
                          <m:sub>
                            <m:r>
                              <m:t xml:space="preserve">s</m:t>
                            </m:r>
                          </m:sub>
                        </m:sSub>
                      </m:den>
                    </m:f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y</m:t>
                            </m:r>
                          </m:e>
                          <m:sub>
                            <m:r>
                              <m:t xml:space="preserve">input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y</m:t>
                            </m:r>
                          </m:e>
                          <m:sub>
                            <m:r>
                              <m:t xml:space="preserve">offset</m:t>
                            </m:r>
                          </m:sub>
                        </m:sSub>
                      </m:e>
                    </m:d>
                    <m:r>
                      <m:t xml:space="preserve">,</m:t>
                    </m:r>
                    <m:r>
                      <m:t xml:space="preserve">θ</m:t>
                    </m:r>
                    <m:r>
                      <m:t xml:space="preserve">=</m:t>
                    </m:r>
                    <m:r>
                      <m:t xml:space="preserve">arctan</m:t>
                    </m:r>
                    <m:r>
                      <m:t xml:space="preserve">2</m:t>
                    </m:r>
                    <m:f>
                      <m:num>
                        <m:sSub>
                          <m:e>
                            <m:r>
                              <m:t xml:space="preserve">y</m:t>
                            </m:r>
                          </m:e>
                          <m:sub>
                            <m:r>
                              <m:t xml:space="preserve">input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y</m:t>
                            </m:r>
                          </m:e>
                          <m:sub>
                            <m:r>
                              <m:t xml:space="preserve">odom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input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odom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/>
      </mc:AlternateContent>
      <p:sp>
        <p:nvSpPr>
          <p:cNvPr id="119" name=""/>
          <p:cNvSpPr txBox="1"/>
          <p:nvPr/>
        </p:nvSpPr>
        <p:spPr>
          <a:xfrm>
            <a:off x="457200" y="4114800"/>
            <a:ext cx="5943600" cy="21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This is obtained by applying frame transformation and scaling in Cartesian coordinate system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6172200" y="2057760"/>
            <a:ext cx="6028920" cy="365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0.1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93726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Kinematics: ROS2 package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57200" y="2201400"/>
            <a:ext cx="4800600" cy="93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wheel velocities are given by: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4" name=""/>
              <p:cNvSpPr txBox="1"/>
              <p:nvPr/>
            </p:nvSpPr>
            <p:spPr>
              <a:xfrm>
                <a:off x="4681440" y="2106720"/>
                <a:ext cx="2982960" cy="996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ω</m:t>
                                  </m:r>
                                </m:e>
                                <m:sub>
                                  <m:r>
                                    <m:t xml:space="preserve"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ω</m:t>
                                  </m:r>
                                </m:e>
                                <m:sub>
                                  <m:r>
                                    <m:t xml:space="preserve">2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ω</m:t>
                                  </m:r>
                                </m:e>
                                <m:sub>
                                  <m:r>
                                    <m:t xml:space="preserve">3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ω</m:t>
                                  </m:r>
                                </m:e>
                                <m:sub>
                                  <m:r>
                                    <m:t xml:space="preserve">4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r</m:t>
                        </m:r>
                      </m:den>
                    </m:f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−</m:t>
                              </m:r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−</m:t>
                              </m:r>
                              <m:r>
                                <m:t xml:space="preserve">R</m:t>
                              </m:r>
                            </m:e>
                          </m:mr>
                          <m:mr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R</m:t>
                              </m:r>
                            </m:e>
                          </m:mr>
                          <m:mr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−</m:t>
                              </m:r>
                              <m:r>
                                <m:t xml:space="preserve">R</m:t>
                              </m:r>
                            </m:e>
                          </m:mr>
                          <m:mr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−</m:t>
                              </m:r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R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t xml:space="preserve">ω</m:t>
                              </m:r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,</m:t>
                    </m:r>
                    <m:r>
                      <m:t xml:space="preserve">R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l</m:t>
                            </m:r>
                          </m:e>
                          <m:sub>
                            <m:r>
                              <m:t xml:space="preserve">x</m:t>
                            </m:r>
                          </m:sub>
                        </m:sSub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sSub>
                          <m:e>
                            <m:r>
                              <m:t xml:space="preserve">l</m:t>
                            </m:r>
                          </m:e>
                          <m:sub>
                            <m:r>
                              <m:t xml:space="preserve">y</m:t>
                            </m:r>
                          </m:sub>
                        </m:sSub>
                      </m:num>
                      <m:den>
                        <m:r>
                          <m:t xml:space="preserve">2</m:t>
                        </m:r>
                      </m:den>
                    </m:f>
                  </m:oMath>
                </a14:m>
              </a:p>
            </p:txBody>
          </p:sp>
        </mc:Choice>
        <mc:Fallback/>
      </mc:AlternateContent>
      <p:sp>
        <p:nvSpPr>
          <p:cNvPr id="125" name=""/>
          <p:cNvSpPr txBox="1"/>
          <p:nvPr/>
        </p:nvSpPr>
        <p:spPr>
          <a:xfrm>
            <a:off x="457200" y="3200400"/>
            <a:ext cx="4800600" cy="93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robot velocities are given by: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6" name=""/>
              <p:cNvSpPr txBox="1"/>
              <p:nvPr/>
            </p:nvSpPr>
            <p:spPr>
              <a:xfrm>
                <a:off x="4609440" y="3141720"/>
                <a:ext cx="2789280" cy="995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t xml:space="preserve">ω</m:t>
                              </m:r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=</m:t>
                    </m:r>
                    <m:f>
                      <m:num>
                        <m:r>
                          <m:t xml:space="preserve">r</m:t>
                        </m:r>
                      </m:num>
                      <m:den>
                        <m:r>
                          <m:t xml:space="preserve">4</m:t>
                        </m:r>
                      </m:den>
                    </m:f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1</m:t>
                              </m:r>
                            </m:e>
                          </m:mr>
                          <m:mr>
                            <m:e>
                              <m:r>
                                <m:t xml:space="preserve">−</m:t>
                              </m:r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1</m:t>
                              </m:r>
                            </m:e>
                            <m:e>
                              <m:r>
                                <m:t xml:space="preserve">−</m:t>
                              </m:r>
                              <m:r>
                                <m:t xml:space="preserve">1</m:t>
                              </m:r>
                            </m:e>
                          </m:mr>
                          <m:mr>
                            <m:e>
                              <m:r>
                                <m:t xml:space="preserve">−</m:t>
                              </m:r>
                              <m:f>
                                <m:num>
                                  <m:r>
                                    <m:t xml:space="preserve">1</m:t>
                                  </m:r>
                                </m:num>
                                <m:den>
                                  <m:r>
                                    <m:t xml:space="preserve">R</m:t>
                                  </m:r>
                                </m:den>
                              </m:f>
                            </m:e>
                            <m:e>
                              <m:f>
                                <m:num>
                                  <m:r>
                                    <m:t xml:space="preserve">1</m:t>
                                  </m:r>
                                </m:num>
                                <m:den>
                                  <m:r>
                                    <m:t xml:space="preserve">R</m:t>
                                  </m:r>
                                </m:den>
                              </m:f>
                            </m:e>
                            <m:e>
                              <m:r>
                                <m:t xml:space="preserve">−</m:t>
                              </m:r>
                              <m:f>
                                <m:num>
                                  <m:r>
                                    <m:t xml:space="preserve">1</m:t>
                                  </m:r>
                                </m:num>
                                <m:den>
                                  <m:r>
                                    <m:t xml:space="preserve">R</m:t>
                                  </m:r>
                                </m:den>
                              </m:f>
                            </m:e>
                            <m:e>
                              <m:f>
                                <m:num>
                                  <m:r>
                                    <m:t xml:space="preserve">1</m:t>
                                  </m:r>
                                </m:num>
                                <m:den>
                                  <m:r>
                                    <m:t xml:space="preserve">R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ω</m:t>
                                  </m:r>
                                </m:e>
                                <m:sub>
                                  <m:r>
                                    <m:t xml:space="preserve"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ω</m:t>
                                  </m:r>
                                </m:e>
                                <m:sub>
                                  <m:r>
                                    <m:t xml:space="preserve">2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ω</m:t>
                                  </m:r>
                                </m:e>
                                <m:sub>
                                  <m:r>
                                    <m:t xml:space="preserve">3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ω</m:t>
                                  </m:r>
                                </m:e>
                                <m:sub>
                                  <m:r>
                                    <m:t xml:space="preserve">4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127" name=""/>
          <p:cNvSpPr txBox="1"/>
          <p:nvPr/>
        </p:nvSpPr>
        <p:spPr>
          <a:xfrm>
            <a:off x="457200" y="4271400"/>
            <a:ext cx="5943600" cy="21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This is obtained by applying kinematics on a rigid body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7543800" y="1062360"/>
            <a:ext cx="4577760" cy="488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0.1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93726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Frame transformation: ROS2 package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457200" y="2201400"/>
            <a:ext cx="4800600" cy="136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linear velocities in local frame are given by: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57200" y="3566160"/>
            <a:ext cx="4800600" cy="136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linear velocities in global frame are given by: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3" name=""/>
              <p:cNvSpPr txBox="1"/>
              <p:nvPr/>
            </p:nvSpPr>
            <p:spPr>
              <a:xfrm>
                <a:off x="1828800" y="2718720"/>
                <a:ext cx="2496600" cy="481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  <m:sup>
                                  <m:r>
                                    <m:t xml:space="preserve">l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  <m:sup>
                                  <m:r>
                                    <m:t xml:space="preserve">l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=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r>
                                <m:t xml:space="preserve">cos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  <m:e>
                              <m:r>
                                <m:t xml:space="preserve">sin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t xml:space="preserve">−</m:t>
                              </m:r>
                              <m:r>
                                <m:t xml:space="preserve">sin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  <m:e>
                              <m:r>
                                <m:t xml:space="preserve">cos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  <m:sup>
                                  <m:r>
                                    <m:t xml:space="preserve">g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  <m:sup>
                                  <m:r>
                                    <m:t xml:space="preserve">g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34" name=""/>
              <p:cNvSpPr txBox="1"/>
              <p:nvPr/>
            </p:nvSpPr>
            <p:spPr>
              <a:xfrm>
                <a:off x="2286000" y="4114800"/>
                <a:ext cx="2496960" cy="481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  <m:sup>
                                  <m:r>
                                    <m:t xml:space="preserve">g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  <m:sup>
                                  <m:r>
                                    <m:t xml:space="preserve">g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=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r>
                                <m:t xml:space="preserve">cos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  <m:e>
                              <m:r>
                                <m:t xml:space="preserve">−</m:t>
                              </m:r>
                              <m:r>
                                <m:t xml:space="preserve">sin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t xml:space="preserve">sin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  <m:e>
                              <m:r>
                                <m:t xml:space="preserve">cos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  <m:sup>
                                  <m:r>
                                    <m:t xml:space="preserve">l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  <m:sup>
                                  <m:r>
                                    <m:t xml:space="preserve">l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135" name=""/>
          <p:cNvSpPr txBox="1"/>
          <p:nvPr/>
        </p:nvSpPr>
        <p:spPr>
          <a:xfrm>
            <a:off x="457200" y="4800600"/>
            <a:ext cx="4800600" cy="178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This is obtained by applying rotation matrix on linear velocities in global frame and local frame respectively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5688000" y="2161080"/>
            <a:ext cx="5078160" cy="423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0.1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93726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Odometry: ROS2 package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57200" y="2201400"/>
            <a:ext cx="4800600" cy="93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robot odometry is defined as: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0" name=""/>
              <p:cNvSpPr txBox="1"/>
              <p:nvPr/>
            </p:nvSpPr>
            <p:spPr>
              <a:xfrm>
                <a:off x="843480" y="2971800"/>
                <a:ext cx="5045760" cy="433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P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</m:dPr>
                          <m:e>
                            <m:r>
                              <m:t xml:space="preserve">n</m:t>
                            </m:r>
                            <m:r>
                              <m:t xml:space="preserve">+</m:t>
                            </m:r>
                            <m:r>
                              <m:t xml:space="preserve">1</m:t>
                            </m:r>
                          </m:e>
                        </m:d>
                      </m:sub>
                    </m:sSub>
                    <m:r>
                      <m:t xml:space="preserve">=</m:t>
                    </m:r>
                    <m:r>
                      <m:t xml:space="preserve">P</m:t>
                    </m:r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+</m:t>
                    </m:r>
                    <m:r>
                      <m:t xml:space="preserve">R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  <m:sSub>
                                <m:e>
                                  <m:r>
                                    <m:t xml:space="preserve">T</m:t>
                                  </m:r>
                                </m:e>
                                <m:sub>
                                  <m:r>
                                    <m:t xml:space="preserve">s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  <m:sSub>
                                <m:e>
                                  <m:r>
                                    <m:t xml:space="preserve">T</m:t>
                                  </m:r>
                                </m:e>
                                <m:sub>
                                  <m:r>
                                    <m:t xml:space="preserve">s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t xml:space="preserve">⇒</m:t>
                    </m:r>
                    <m:sSub>
                      <m:e>
                        <m:d>
                          <m:dPr>
                            <m:begChr m:val="["/>
                            <m:endChr m:val="]"/>
                          </m:dPr>
                          <m:e>
                            <m:m>
                              <m:mr>
                                <m:e>
                                  <m:sSub>
                                    <m:e>
                                      <m:r>
                                        <m:t xml:space="preserve">x</m:t>
                                      </m:r>
                                    </m:e>
                                    <m:sub>
                                      <m:r>
                                        <m:t xml:space="preserve">odom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m:t xml:space="preserve">y</m:t>
                                      </m:r>
                                    </m:e>
                                    <m:sub>
                                      <m:r>
                                        <m:t xml:space="preserve">odom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m:t xml:space="preserve">n</m:t>
                        </m:r>
                        <m:r>
                          <m:t xml:space="preserve">+</m:t>
                        </m:r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d>
                          <m:dPr>
                            <m:begChr m:val="["/>
                            <m:endChr m:val="]"/>
                          </m:dPr>
                          <m:e>
                            <m:m>
                              <m:mr>
                                <m:e>
                                  <m:sSub>
                                    <m:e>
                                      <m:r>
                                        <m:t xml:space="preserve">x</m:t>
                                      </m:r>
                                    </m:e>
                                    <m:sub>
                                      <m:r>
                                        <m:t xml:space="preserve">odom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m:t xml:space="preserve">y</m:t>
                                      </m:r>
                                    </m:e>
                                    <m:sub>
                                      <m:r>
                                        <m:t xml:space="preserve">odom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m:t xml:space="preserve">n</m:t>
                        </m:r>
                      </m:sub>
                    </m:sSub>
                    <m:r>
                      <m:t xml:space="preserve">+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r>
                                <m:t xml:space="preserve">cos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  <m:e>
                              <m:r>
                                <m:t xml:space="preserve">−</m:t>
                              </m:r>
                              <m:r>
                                <m:t xml:space="preserve">sin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t xml:space="preserve">sin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  <m:e>
                              <m:r>
                                <m:t xml:space="preserve">cos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  <m:sSub>
                                <m:e>
                                  <m:r>
                                    <m:t xml:space="preserve">T</m:t>
                                  </m:r>
                                </m:e>
                                <m:sub>
                                  <m:r>
                                    <m:t xml:space="preserve">s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  <m:sSub>
                                <m:e>
                                  <m:r>
                                    <m:t xml:space="preserve">T</m:t>
                                  </m:r>
                                </m:e>
                                <m:sub>
                                  <m:r>
                                    <m:t xml:space="preserve">s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41" name=""/>
              <p:cNvSpPr txBox="1"/>
              <p:nvPr/>
            </p:nvSpPr>
            <p:spPr>
              <a:xfrm>
                <a:off x="844200" y="3549600"/>
                <a:ext cx="4533120" cy="448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c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r>
                      <m:t xml:space="preserve">θ</m:t>
                    </m:r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−</m:t>
                    </m:r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offset</m:t>
                        </m:r>
                      </m:sub>
                    </m:sSub>
                    <m:r>
                      <m:t xml:space="preserve">,</m:t>
                    </m:r>
                    <m:r>
                      <m:t xml:space="preserve">θ</m:t>
                    </m:r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r>
                      <m:t xml:space="preserve">arctan</m:t>
                    </m:r>
                    <m:r>
                      <m:t xml:space="preserve">2</m:t>
                    </m:r>
                    <m:d>
                      <m:dPr>
                        <m:begChr m:val="["/>
                        <m:endChr m:val="]"/>
                      </m:dPr>
                      <m:e>
                        <m:f>
                          <m:num>
                            <m:r>
                              <m:t xml:space="preserve">2</m:t>
                            </m:r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ω</m:t>
                                </m:r>
                                <m:d>
                                  <m:dPr>
                                    <m:begChr m:val="["/>
                                    <m:endChr m:val="]"/>
                                  </m:dPr>
                                  <m:e>
                                    <m:r>
                                      <m:t xml:space="preserve">n</m:t>
                                    </m:r>
                                  </m:e>
                                </m:d>
                                <m:r>
                                  <m:t xml:space="preserve">x</m:t>
                                </m:r>
                                <m:d>
                                  <m:dPr>
                                    <m:begChr m:val="["/>
                                    <m:endChr m:val="]"/>
                                  </m:dPr>
                                  <m:e>
                                    <m:r>
                                      <m:t xml:space="preserve">n</m:t>
                                    </m:r>
                                  </m:e>
                                </m:d>
                                <m:r>
                                  <m:t xml:space="preserve">+</m:t>
                                </m:r>
                                <m:r>
                                  <m:t xml:space="preserve">x</m:t>
                                </m:r>
                                <m:d>
                                  <m:dPr>
                                    <m:begChr m:val="["/>
                                    <m:endChr m:val="]"/>
                                  </m:dPr>
                                  <m:e>
                                    <m:r>
                                      <m:t xml:space="preserve">n</m:t>
                                    </m:r>
                                  </m:e>
                                </m:d>
                                <m:r>
                                  <m:t xml:space="preserve">y</m:t>
                                </m:r>
                                <m:d>
                                  <m:dPr>
                                    <m:begChr m:val="["/>
                                    <m:endChr m:val="]"/>
                                  </m:dPr>
                                  <m:e>
                                    <m:r>
                                      <m:t xml:space="preserve">n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m:t xml:space="preserve">1</m:t>
                            </m:r>
                            <m:r>
                              <m:t xml:space="preserve">−</m:t>
                            </m:r>
                            <m:r>
                              <m:t xml:space="preserve">2</m:t>
                            </m:r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sSup>
                                  <m:e>
                                    <m:r>
                                      <m:t xml:space="preserve">y</m:t>
                                    </m:r>
                                  </m:e>
                                  <m:sup>
                                    <m:r>
                                      <m:t xml:space="preserve"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</m:dPr>
                                  <m:e>
                                    <m:r>
                                      <m:t xml:space="preserve">n</m:t>
                                    </m:r>
                                  </m:e>
                                </m:d>
                                <m:r>
                                  <m:t xml:space="preserve">+</m:t>
                                </m:r>
                                <m:sSup>
                                  <m:e>
                                    <m:r>
                                      <m:t xml:space="preserve">z</m:t>
                                    </m:r>
                                  </m:e>
                                  <m:sup>
                                    <m:r>
                                      <m:t xml:space="preserve"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</m:dPr>
                                  <m:e>
                                    <m:r>
                                      <m:t xml:space="preserve">n</m:t>
                                    </m:r>
                                  </m:e>
                                </m:d>
                              </m:e>
                            </m:d>
                          </m:den>
                        </m:f>
                      </m:e>
                    </m:d>
                    <m:r>
                      <m:t xml:space="preserve">,</m:t>
                    </m:r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offset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initial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6400800" y="1348200"/>
            <a:ext cx="4710600" cy="480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0.1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75438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Control logic: ROS2 package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457200" y="2057400"/>
            <a:ext cx="6400800" cy="136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velocities in global reference frame is given by: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6" name=""/>
              <p:cNvSpPr txBox="1"/>
              <p:nvPr/>
            </p:nvSpPr>
            <p:spPr>
              <a:xfrm>
                <a:off x="807840" y="2603880"/>
                <a:ext cx="981720" cy="775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u</m:t>
                    </m:r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  <m:sup>
                                  <m:r>
                                    <m:t xml:space="preserve">l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  <m:sup>
                                  <m:r>
                                    <m:t xml:space="preserve">l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t xml:space="preserve">ω</m:t>
                              </m:r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5257800" y="2874600"/>
            <a:ext cx="6934320" cy="2743200"/>
          </a:xfrm>
          <a:prstGeom prst="rect">
            <a:avLst/>
          </a:prstGeom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148" name=""/>
              <p:cNvSpPr txBox="1"/>
              <p:nvPr/>
            </p:nvSpPr>
            <p:spPr>
              <a:xfrm>
                <a:off x="4716720" y="5979600"/>
                <a:ext cx="2542680" cy="480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  <m:sup>
                                  <m:r>
                                    <m:t xml:space="preserve">l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  <m:sup>
                                  <m:r>
                                    <m:t xml:space="preserve">l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=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r>
                                <m:t xml:space="preserve">cos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  <m:e>
                              <m:r>
                                <m:t xml:space="preserve">sin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t xml:space="preserve">−</m:t>
                              </m:r>
                              <m:r>
                                <m:t xml:space="preserve">sin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  <m:e>
                              <m:r>
                                <m:t xml:space="preserve">cos</m:t>
                              </m:r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  <m:sup>
                                  <m:r>
                                    <m:t xml:space="preserve">g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  <m:sup>
                                  <m:r>
                                    <m:t xml:space="preserve">g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49" name=""/>
              <p:cNvSpPr txBox="1"/>
              <p:nvPr/>
            </p:nvSpPr>
            <p:spPr>
              <a:xfrm>
                <a:off x="2014920" y="3873600"/>
                <a:ext cx="3014280" cy="480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  <m:sup>
                                  <m:r>
                                    <m:t xml:space="preserve">g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Sup>
                                <m:e>
                                  <m:r>
                                    <m:t xml:space="preserve">v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  <m:sup>
                                  <m:r>
                                    <m:t xml:space="preserve">g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=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k</m:t>
                                  </m:r>
                                </m:e>
                                <m:sub>
                                  <m:r>
                                    <m:t xml:space="preserve">p</m:t>
                                  </m:r>
                                </m:sub>
                              </m:sSub>
                            </m:e>
                            <m:e>
                              <m:r>
                                <m:t xml:space="preserve">0</m:t>
                              </m:r>
                            </m:e>
                          </m:mr>
                          <m:mr>
                            <m:e>
                              <m:r>
                                <m:t xml:space="preserve">0</m:t>
                              </m:r>
                            </m:e>
                            <m:e>
                              <m:sSub>
                                <m:e>
                                  <m:r>
                                    <m:t xml:space="preserve">k</m:t>
                                  </m:r>
                                </m:e>
                                <m:sub>
                                  <m:r>
                                    <m:t xml:space="preserve">p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e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e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+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k</m:t>
                                  </m:r>
                                </m:e>
                                <m:sub>
                                  <m:r>
                                    <m:t xml:space="preserve">d</m:t>
                                  </m:r>
                                </m:sub>
                              </m:sSub>
                            </m:e>
                            <m:e>
                              <m:r>
                                <m:t xml:space="preserve">0</m:t>
                              </m:r>
                            </m:e>
                          </m:mr>
                          <m:mr>
                            <m:e>
                              <m:r>
                                <m:t xml:space="preserve">0</m:t>
                              </m:r>
                            </m:e>
                            <m:e>
                              <m:sSub>
                                <m:e>
                                  <m:r>
                                    <m:t xml:space="preserve">k</m:t>
                                  </m:r>
                                </m:e>
                                <m:sub>
                                  <m:r>
                                    <m:t xml:space="preserve">d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acc>
                                <m:accPr>
                                  <m:chr m:val="˙"/>
                                </m:accPr>
                                <m:e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x</m:t>
                                      </m:r>
                                      <m:r>
                                        <m:t xml:space="preserve">,</m:t>
                                      </m:r>
                                      <m:r>
                                        <m:t xml:space="preserve">filtered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acc>
                                <m:accPr>
                                  <m:chr m:val="˙"/>
                                </m:accPr>
                                <m:e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y</m:t>
                                      </m:r>
                                      <m:r>
                                        <m:t xml:space="preserve">,</m:t>
                                      </m:r>
                                      <m:r>
                                        <m:t xml:space="preserve">filtered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50" name=""/>
              <p:cNvSpPr txBox="1"/>
              <p:nvPr/>
            </p:nvSpPr>
            <p:spPr>
              <a:xfrm>
                <a:off x="1600200" y="4471920"/>
                <a:ext cx="2803320" cy="433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acc>
                                <m:accPr>
                                  <m:chr m:val="˙"/>
                                </m:accPr>
                                <m:e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x</m:t>
                                      </m:r>
                                      <m:r>
                                        <m:t xml:space="preserve">,</m:t>
                                      </m:r>
                                      <m:r>
                                        <m:t xml:space="preserve">filtered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acc>
                                <m:accPr>
                                  <m:chr m:val="˙"/>
                                </m:accPr>
                                <m:e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y</m:t>
                                      </m:r>
                                      <m:r>
                                        <m:t xml:space="preserve">,</m:t>
                                      </m:r>
                                      <m:r>
                                        <m:t xml:space="preserve">filtered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=</m:t>
                    </m:r>
                    <m:sSub>
                      <m:e>
                        <m:r>
                          <m:t xml:space="preserve">α</m:t>
                        </m:r>
                      </m:e>
                      <m:sub>
                        <m:r>
                          <m:t xml:space="preserve">d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acc>
                                <m:accPr>
                                  <m:chr m:val="˙"/>
                                </m:accPr>
                                <m:e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x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acc>
                                <m:accPr>
                                  <m:chr m:val="˙"/>
                                </m:accPr>
                                <m:e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y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+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1</m:t>
                        </m:r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α</m:t>
                            </m:r>
                          </m:e>
                          <m:sub>
                            <m:r>
                              <m:t xml:space="preserve">d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acc>
                                <m:accPr>
                                  <m:chr m:val="˙"/>
                                </m:accPr>
                                <m:e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x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  <m:r>
                                    <m:t xml:space="preserve">−</m:t>
                                  </m:r>
                                  <m:r>
                                    <m:t xml:space="preserve">1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acc>
                                <m:accPr>
                                  <m:chr m:val="˙"/>
                                </m:accPr>
                                <m:e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y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  <m:r>
                                    <m:t xml:space="preserve">−</m:t>
                                  </m:r>
                                  <m:r>
                                    <m:t xml:space="preserve">1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151" name=""/>
          <p:cNvSpPr txBox="1"/>
          <p:nvPr/>
        </p:nvSpPr>
        <p:spPr>
          <a:xfrm>
            <a:off x="457200" y="3387240"/>
            <a:ext cx="5486400" cy="136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global velocities is given by the PD controller: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57200" y="4317840"/>
            <a:ext cx="6172200" cy="51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Where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57200" y="5885640"/>
            <a:ext cx="6172200" cy="51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Then, we calculate local velocities: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57200" y="5199840"/>
            <a:ext cx="6172200" cy="51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And </a:t>
            </a: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55" name=""/>
              <p:cNvSpPr txBox="1"/>
              <p:nvPr/>
            </p:nvSpPr>
            <p:spPr>
              <a:xfrm>
                <a:off x="1335600" y="5091840"/>
                <a:ext cx="3341160" cy="905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e</m:t>
                                  </m:r>
                                </m:e>
                                <m:sub>
                                  <m:r>
                                    <m:t xml:space="preserve">x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e</m:t>
                                  </m:r>
                                </m:e>
                                <m:sub>
                                  <m:r>
                                    <m:t xml:space="preserve">y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=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x</m:t>
                                  </m:r>
                                </m:e>
                                <m:sub>
                                  <m:r>
                                    <m:t xml:space="preserve">d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  <m:r>
                                <m:t xml:space="preserve">−</m:t>
                              </m:r>
                              <m:sSub>
                                <m:e>
                                  <m:r>
                                    <m:t xml:space="preserve">x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y</m:t>
                                  </m:r>
                                </m:e>
                                <m:sub>
                                  <m:r>
                                    <m:t xml:space="preserve">d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  <m:r>
                                <m:t xml:space="preserve">−</m:t>
                              </m:r>
                              <m:sSub>
                                <m:e>
                                  <m:r>
                                    <m:t xml:space="preserve">y</m:t>
                                  </m:r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,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acc>
                                <m:accPr>
                                  <m:chr m:val="˙"/>
                                </m:accPr>
                                <m:e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x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acc>
                                <m:accPr>
                                  <m:chr m:val="˙"/>
                                </m:accPr>
                                <m:e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y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=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f>
                                <m:num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x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</m:dPr>
                                    <m:e>
                                      <m:r>
                                        <m:t xml:space="preserve">n</m:t>
                                      </m:r>
                                    </m:e>
                                  </m:d>
                                  <m:r>
                                    <m:t xml:space="preserve">−</m:t>
                                  </m:r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x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</m:dPr>
                                    <m:e>
                                      <m:r>
                                        <m:t xml:space="preserve">n</m:t>
                                      </m:r>
                                      <m:r>
                                        <m:t xml:space="preserve">−</m:t>
                                      </m:r>
                                      <m:r>
                                        <m:t xml:space="preserve">1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e>
                                      <m:r>
                                        <m:t xml:space="preserve">T</m:t>
                                      </m:r>
                                    </m:e>
                                    <m:sub>
                                      <m:r>
                                        <m:t xml:space="preserve">s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num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y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</m:dPr>
                                    <m:e>
                                      <m:r>
                                        <m:t xml:space="preserve">n</m:t>
                                      </m:r>
                                    </m:e>
                                  </m:d>
                                  <m:r>
                                    <m:t xml:space="preserve">−</m:t>
                                  </m:r>
                                  <m:sSub>
                                    <m:e>
                                      <m:r>
                                        <m:t xml:space="preserve">e</m:t>
                                      </m:r>
                                    </m:e>
                                    <m:sub>
                                      <m:r>
                                        <m:t xml:space="preserve">y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</m:dPr>
                                    <m:e>
                                      <m:r>
                                        <m:t xml:space="preserve">n</m:t>
                                      </m:r>
                                      <m:r>
                                        <m:t xml:space="preserve">−</m:t>
                                      </m:r>
                                      <m:r>
                                        <m:t xml:space="preserve">1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e>
                                      <m:r>
                                        <m:t xml:space="preserve">T</m:t>
                                      </m:r>
                                    </m:e>
                                    <m:sub>
                                      <m:r>
                                        <m:t xml:space="preserve">s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0.1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75438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Control logic: ROS2 package</a:t>
            </a:r>
            <a:endParaRPr b="0" lang="en-US" sz="28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58" name=""/>
              <p:cNvSpPr txBox="1"/>
              <p:nvPr/>
            </p:nvSpPr>
            <p:spPr>
              <a:xfrm>
                <a:off x="6400800" y="2034000"/>
                <a:ext cx="991440" cy="190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ω</m:t>
                    </m:r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sSub>
                      <m:e>
                        <m:r>
                          <m:t xml:space="preserve">k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sSub>
                      <m:e>
                        <m:r>
                          <m:t xml:space="preserve">e</m:t>
                        </m:r>
                      </m:e>
                      <m:sub>
                        <m:r>
                          <m:t xml:space="preserve">θ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159" name=""/>
          <p:cNvSpPr txBox="1"/>
          <p:nvPr/>
        </p:nvSpPr>
        <p:spPr>
          <a:xfrm>
            <a:off x="457200" y="1779840"/>
            <a:ext cx="6172200" cy="93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angular velocity is given by the PD controller: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493200" y="2601720"/>
            <a:ext cx="6172200" cy="51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Where</a:t>
            </a: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1" name=""/>
              <p:cNvSpPr txBox="1"/>
              <p:nvPr/>
            </p:nvSpPr>
            <p:spPr>
              <a:xfrm>
                <a:off x="1636200" y="2853000"/>
                <a:ext cx="1317240" cy="190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e</m:t>
                        </m:r>
                      </m:e>
                      <m:sub>
                        <m:r>
                          <m:t xml:space="preserve">θ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d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−</m:t>
                    </m:r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c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162" name=""/>
          <p:cNvSpPr txBox="1"/>
          <p:nvPr/>
        </p:nvSpPr>
        <p:spPr>
          <a:xfrm>
            <a:off x="408600" y="3632040"/>
            <a:ext cx="6172200" cy="51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deadzone can be applied: </a:t>
            </a: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3" name=""/>
              <p:cNvSpPr txBox="1"/>
              <p:nvPr/>
            </p:nvSpPr>
            <p:spPr>
              <a:xfrm>
                <a:off x="4240440" y="3874320"/>
                <a:ext cx="860760" cy="168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if</m:t>
                    </m:r>
                    <m:d>
                      <m:dPr>
                        <m:begChr m:val="|"/>
                        <m:endChr m:val="|"/>
                      </m:dPr>
                      <m:e>
                        <m:r>
                          <m:t xml:space="preserve">v</m:t>
                        </m:r>
                      </m:e>
                    </m:d>
                    <m:r>
                      <m:t xml:space="preserve">&lt;</m:t>
                    </m:r>
                    <m:r>
                      <m:t xml:space="preserve">ϵ</m:t>
                    </m:r>
                    <m:r>
                      <m:t xml:space="preserve">,</m:t>
                    </m:r>
                    <m:r>
                      <m:t xml:space="preserve">v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64" name=""/>
          <p:cNvSpPr txBox="1"/>
          <p:nvPr/>
        </p:nvSpPr>
        <p:spPr>
          <a:xfrm>
            <a:off x="421200" y="4271400"/>
            <a:ext cx="6172200" cy="51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For safety reason, we limit the robot velocities:  </a:t>
            </a: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5" name=""/>
              <p:cNvSpPr txBox="1"/>
              <p:nvPr/>
            </p:nvSpPr>
            <p:spPr>
              <a:xfrm>
                <a:off x="6011640" y="4536000"/>
                <a:ext cx="1197360" cy="191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r>
                          <m:t xml:space="preserve">v</m:t>
                        </m:r>
                      </m:e>
                    </m:d>
                    <m:r>
                      <m:t xml:space="preserve">≤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max</m:t>
                        </m:r>
                      </m:sub>
                    </m:sSub>
                    <m:r>
                      <m:t xml:space="preserve">,</m:t>
                    </m:r>
                    <m:d>
                      <m:dPr>
                        <m:begChr m:val="|"/>
                        <m:endChr m:val="|"/>
                      </m:dPr>
                      <m:e>
                        <m:r>
                          <m:t xml:space="preserve">ω</m:t>
                        </m:r>
                      </m:e>
                    </m:d>
                    <m:r>
                      <m:t xml:space="preserve">≤</m:t>
                    </m:r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max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228600" y="1479600"/>
            <a:ext cx="82296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Updates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57200" y="2057400"/>
            <a:ext cx="10515600" cy="34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Version 0.2 is an updates over version 0.1 to improve usability and performance of the system. The update includes: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Target_Setter UI update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Communication protocol redefinition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Addition of return and edit functionalities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Minor system architecture improvement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Navigation logic addition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Coordinate scaling update on Target_Setter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82296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System architecture: Target_Setter update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457200" y="2057400"/>
            <a:ext cx="6172200" cy="34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YawJoystick is removed from Target_Setter app because: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App doesn’t actually need to calculate yaw because yaw can be inferred from the position inputs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We assume that the robot is in a planar (2D) environment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Reduce computational load from the app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2" name="" descr=""/>
          <p:cNvPicPr/>
          <p:nvPr/>
        </p:nvPicPr>
        <p:blipFill>
          <a:blip r:embed="rId1"/>
          <a:stretch/>
        </p:blipFill>
        <p:spPr>
          <a:xfrm>
            <a:off x="6628320" y="2204640"/>
            <a:ext cx="4720320" cy="374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89154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System architecture: ROS2 package update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57200" y="2057400"/>
            <a:ext cx="5486400" cy="30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target_odometry node is removed from package because: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After redefining communication protocol, target_odometry node is redundant with the udp_listener node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UDP packets can be processed directly in the udp_listener node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6065280" y="2203560"/>
            <a:ext cx="5908320" cy="348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75438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Android app design update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85800" y="2057400"/>
            <a:ext cx="7315200" cy="263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Add lines connecting from one waypoint to another for better readability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Allows users to input gamefield parameters (dimension) for scalability and modularity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Removed virtual joystick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Add Edit and Return buttons 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1"/>
          <a:stretch/>
        </p:blipFill>
        <p:spPr>
          <a:xfrm>
            <a:off x="4572000" y="3648240"/>
            <a:ext cx="6625080" cy="298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89154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Coordinate scaling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613800" y="2057400"/>
            <a:ext cx="11044800" cy="21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Since we removed yaw input from the UI, the app can no longer provides yaw input. After this change, the waypoints in global frame is provided as: </a:t>
            </a: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4" name=""/>
              <p:cNvSpPr txBox="1"/>
              <p:nvPr/>
            </p:nvSpPr>
            <p:spPr>
              <a:xfrm>
                <a:off x="914400" y="3200760"/>
                <a:ext cx="2943360" cy="456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g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W</m:t>
                            </m:r>
                          </m:e>
                          <m:sub>
                            <m:r>
                              <m:t xml:space="preserve">g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W</m:t>
                            </m:r>
                          </m:e>
                          <m:sub>
                            <m:r>
                              <m:t xml:space="preserve">s</m:t>
                            </m:r>
                          </m:sub>
                        </m:sSub>
                      </m:den>
                    </m:f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input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offset</m:t>
                            </m:r>
                          </m:sub>
                        </m:sSub>
                      </m:e>
                    </m:d>
                    <m:r>
                      <m:t xml:space="preserve">,</m:t>
                    </m:r>
                    <m:sSub>
                      <m:e>
                        <m:r>
                          <m:t xml:space="preserve">y</m:t>
                        </m:r>
                      </m:e>
                      <m:sub>
                        <m:r>
                          <m:t xml:space="preserve">g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H</m:t>
                            </m:r>
                          </m:e>
                          <m:sub>
                            <m:r>
                              <m:t xml:space="preserve">g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H</m:t>
                            </m:r>
                          </m:e>
                          <m:sub>
                            <m:r>
                              <m:t xml:space="preserve">s</m:t>
                            </m:r>
                          </m:sub>
                        </m:sSub>
                      </m:den>
                    </m:f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y</m:t>
                            </m:r>
                          </m:e>
                          <m:sub>
                            <m:r>
                              <m:t xml:space="preserve">input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y</m:t>
                            </m:r>
                          </m:e>
                          <m:sub>
                            <m:r>
                              <m:t xml:space="preserve">offset</m:t>
                            </m:r>
                          </m:sub>
                        </m:sSub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185" name=""/>
          <p:cNvSpPr txBox="1"/>
          <p:nvPr/>
        </p:nvSpPr>
        <p:spPr>
          <a:xfrm>
            <a:off x="613800" y="4042800"/>
            <a:ext cx="10816200" cy="21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Yaw correction is handled by the ROS2 package using positions input from app and IMU quaternion readings.</a:t>
            </a: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6" name=""/>
              <p:cNvSpPr txBox="1"/>
              <p:nvPr/>
            </p:nvSpPr>
            <p:spPr>
              <a:xfrm>
                <a:off x="5766480" y="3258720"/>
                <a:ext cx="72000" cy="169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87" name=""/>
              <p:cNvSpPr txBox="1"/>
              <p:nvPr/>
            </p:nvSpPr>
            <p:spPr>
              <a:xfrm>
                <a:off x="914400" y="5029200"/>
                <a:ext cx="2115360" cy="504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d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r>
                      <m:t xml:space="preserve">arctan</m:t>
                    </m:r>
                    <m:r>
                      <m:t xml:space="preserve">2</m:t>
                    </m:r>
                    <m:d>
                      <m:dPr>
                        <m:begChr m:val="("/>
                        <m:endChr m:val=")"/>
                      </m:dPr>
                      <m:e>
                        <m:f>
                          <m:num>
                            <m:sSub>
                              <m:e>
                                <m:r>
                                  <m:t xml:space="preserve">y</m:t>
                                </m:r>
                              </m:e>
                              <m:sub>
                                <m:r>
                                  <m:t xml:space="preserve">d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</m:dPr>
                              <m:e>
                                <m:r>
                                  <m:t xml:space="preserve">n</m:t>
                                </m:r>
                              </m:e>
                            </m:d>
                            <m:r>
                              <m:t xml:space="preserve">−</m:t>
                            </m:r>
                            <m:sSub>
                              <m:e>
                                <m:r>
                                  <m:t xml:space="preserve">y</m:t>
                                </m:r>
                              </m:e>
                              <m:sub>
                                <m:r>
                                  <m:t xml:space="preserve">c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</m:dPr>
                              <m:e>
                                <m:r>
                                  <m:t xml:space="preserve">n</m:t>
                                </m:r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m:t xml:space="preserve">x</m:t>
                                </m:r>
                              </m:e>
                              <m:sub>
                                <m:r>
                                  <m:t xml:space="preserve">d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</m:dPr>
                              <m:e>
                                <m:r>
                                  <m:t xml:space="preserve">n</m:t>
                                </m:r>
                              </m:e>
                            </m:d>
                            <m:r>
                              <m:t xml:space="preserve">−</m:t>
                            </m:r>
                            <m:sSub>
                              <m:e>
                                <m:r>
                                  <m:t xml:space="preserve">x</m:t>
                                </m:r>
                              </m:e>
                              <m:sub>
                                <m:r>
                                  <m:t xml:space="preserve">c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</m:dPr>
                              <m:e>
                                <m:r>
                                  <m:t xml:space="preserve">n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75438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Communication protocol redefinition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85800" y="2057400"/>
            <a:ext cx="9372600" cy="34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Different packet types for different messages (structure problem)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Implement binary UDP packet with Little Endian byte order to decrease transmission latency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Update communication flow by including edit and return functionalities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udp_listener node update to process the packets properly before publishing decision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228960" y="1371960"/>
            <a:ext cx="754380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Navigation logic addition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57200" y="2057760"/>
            <a:ext cx="10515600" cy="34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To properly navigate the robot, we add arrival detection.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We can check the distance using this equation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Then, we compare the distance with the predefined threshold.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robot is considered to be arrived at the waypoint if the distance is less than or equal to the threshold.</a:t>
            </a: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4" name=""/>
              <p:cNvSpPr txBox="1"/>
              <p:nvPr/>
            </p:nvSpPr>
            <p:spPr>
              <a:xfrm>
                <a:off x="6073200" y="3115800"/>
                <a:ext cx="2563200" cy="243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</m:t>
                    </m:r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rad>
                      <m:radPr>
                        <m:degHide m:val="1"/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sSub>
                                  <m:e>
                                    <m:r>
                                      <m:t xml:space="preserve">x</m:t>
                                    </m:r>
                                  </m:e>
                                  <m:sub>
                                    <m:r>
                                      <m:t xml:space="preserve">d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</m:dPr>
                                  <m:e>
                                    <m:r>
                                      <m:t xml:space="preserve">n</m:t>
                                    </m:r>
                                  </m:e>
                                </m:d>
                                <m:r>
                                  <m:t xml:space="preserve">−</m:t>
                                </m:r>
                                <m:sSub>
                                  <m:e>
                                    <m:r>
                                      <m:t xml:space="preserve">x</m:t>
                                    </m:r>
                                  </m:e>
                                  <m:sub>
                                    <m:r>
                                      <m:t xml:space="preserve">c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</m:dPr>
                                  <m:e>
                                    <m:r>
                                      <m:t xml:space="preserve">n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+</m:t>
                        </m:r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sSub>
                                  <m:e>
                                    <m:r>
                                      <m:t xml:space="preserve">y</m:t>
                                    </m:r>
                                  </m:e>
                                  <m:sub>
                                    <m:r>
                                      <m:t xml:space="preserve">d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</m:dPr>
                                  <m:e>
                                    <m:r>
                                      <m:t xml:space="preserve">n</m:t>
                                    </m:r>
                                  </m:e>
                                </m:d>
                                <m:r>
                                  <m:t xml:space="preserve">−</m:t>
                                </m:r>
                                <m:sSub>
                                  <m:e>
                                    <m:r>
                                      <m:t xml:space="preserve">y</m:t>
                                    </m:r>
                                  </m:e>
                                  <m:sub>
                                    <m:r>
                                      <m:t xml:space="preserve">c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</m:dPr>
                                  <m:e>
                                    <m:r>
                                      <m:t xml:space="preserve">n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e>
                    </m:rad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228960" y="137196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Addition of return and edit functionalities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457200" y="2057760"/>
            <a:ext cx="10515600" cy="34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app send the return and edit packets. Each packet contains flag that signals ROS2 to return or edit the waypoint.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udp_listener node process these packets, then forward it to the control node.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robot_control node implements the logic required for the navigation operation.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228960" y="137196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Addition of return and edit functionalities: edit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457200" y="2057760"/>
            <a:ext cx="10515600" cy="391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If the edited waypoint is not active, the robot continues its navigation normally, otherwise, we implement complementary filter to smooth robot navigation, avoiding sudden jumps in trajectory that could cause instability.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This is done using these equations: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Or in matrix form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01" name=""/>
              <p:cNvSpPr txBox="1"/>
              <p:nvPr/>
            </p:nvSpPr>
            <p:spPr>
              <a:xfrm>
                <a:off x="804600" y="4294800"/>
                <a:ext cx="4590000" cy="200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active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1</m:t>
                        </m:r>
                        <m:r>
                          <m:t xml:space="preserve">−</m:t>
                        </m:r>
                        <m:r>
                          <m:t xml:space="preserve">α</m:t>
                        </m:r>
                      </m:e>
                    </m:d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active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+</m:t>
                    </m:r>
                    <m:r>
                      <m:t xml:space="preserve">α</m:t>
                    </m:r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edit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,</m:t>
                    </m:r>
                    <m:sSub>
                      <m:e>
                        <m:r>
                          <m:t xml:space="preserve">y</m:t>
                        </m:r>
                      </m:e>
                      <m:sub>
                        <m:r>
                          <m:t xml:space="preserve">active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1</m:t>
                        </m:r>
                        <m:r>
                          <m:t xml:space="preserve">−</m:t>
                        </m:r>
                        <m:r>
                          <m:t xml:space="preserve">α</m:t>
                        </m:r>
                      </m:e>
                    </m:d>
                    <m:sSub>
                      <m:e>
                        <m:r>
                          <m:t xml:space="preserve">y</m:t>
                        </m:r>
                      </m:e>
                      <m:sub>
                        <m:r>
                          <m:t xml:space="preserve">active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+</m:t>
                    </m:r>
                    <m:r>
                      <m:t xml:space="preserve">α</m:t>
                    </m:r>
                    <m:sSub>
                      <m:e>
                        <m:r>
                          <m:t xml:space="preserve">y</m:t>
                        </m:r>
                      </m:e>
                      <m:sub>
                        <m:r>
                          <m:t xml:space="preserve">edit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202" name=""/>
              <p:cNvSpPr txBox="1"/>
              <p:nvPr/>
            </p:nvSpPr>
            <p:spPr>
              <a:xfrm>
                <a:off x="797040" y="4572000"/>
                <a:ext cx="4619880" cy="446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active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1</m:t>
                        </m:r>
                        <m:r>
                          <m:t xml:space="preserve">−</m:t>
                        </m:r>
                        <m:r>
                          <m:t xml:space="preserve">α</m:t>
                        </m:r>
                      </m:e>
                    </m:d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active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+</m:t>
                    </m:r>
                    <m:r>
                      <m:t xml:space="preserve">α</m:t>
                    </m:r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edit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,</m:t>
                    </m:r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edit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r>
                      <m:t xml:space="preserve">arctan</m:t>
                    </m:r>
                    <m:r>
                      <m:t xml:space="preserve">2</m:t>
                    </m:r>
                    <m:d>
                      <m:dPr>
                        <m:begChr m:val="("/>
                        <m:endChr m:val=")"/>
                      </m:dPr>
                      <m:e>
                        <m:f>
                          <m:num>
                            <m:sSub>
                              <m:e>
                                <m:r>
                                  <m:t xml:space="preserve">x</m:t>
                                </m:r>
                              </m:e>
                              <m:sub>
                                <m:r>
                                  <m:t xml:space="preserve">edit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</m:dPr>
                              <m:e>
                                <m:r>
                                  <m:t xml:space="preserve">n</m:t>
                                </m:r>
                              </m:e>
                            </m:d>
                            <m:r>
                              <m:t xml:space="preserve">−</m:t>
                            </m:r>
                            <m:sSub>
                              <m:e>
                                <m:r>
                                  <m:t xml:space="preserve">x</m:t>
                                </m:r>
                              </m:e>
                              <m:sub>
                                <m:r>
                                  <m:t xml:space="preserve">active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</m:dPr>
                              <m:e>
                                <m:r>
                                  <m:t xml:space="preserve">n</m:t>
                                </m:r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m:t xml:space="preserve">y</m:t>
                                </m:r>
                              </m:e>
                              <m:sub>
                                <m:r>
                                  <m:t xml:space="preserve">edit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</m:dPr>
                              <m:e>
                                <m:r>
                                  <m:t xml:space="preserve">n</m:t>
                                </m:r>
                              </m:e>
                            </m:d>
                            <m:r>
                              <m:t xml:space="preserve">−</m:t>
                            </m:r>
                            <m:sSub>
                              <m:e>
                                <m:r>
                                  <m:t xml:space="preserve">y</m:t>
                                </m:r>
                              </m:e>
                              <m:sub>
                                <m:r>
                                  <m:t xml:space="preserve">active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</m:dPr>
                              <m:e>
                                <m:r>
                                  <m:t xml:space="preserve">n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203" name=""/>
              <p:cNvSpPr txBox="1"/>
              <p:nvPr/>
            </p:nvSpPr>
            <p:spPr>
              <a:xfrm>
                <a:off x="2761200" y="5085360"/>
                <a:ext cx="2827440" cy="660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x</m:t>
                                  </m:r>
                                </m:e>
                                <m:sub>
                                  <m:r>
                                    <m:t xml:space="preserve">active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y</m:t>
                                  </m:r>
                                </m:e>
                                <m:sub>
                                  <m:r>
                                    <m:t xml:space="preserve">active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active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t xml:space="preserve">=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1</m:t>
                        </m:r>
                        <m:r>
                          <m:t xml:space="preserve">−</m:t>
                        </m:r>
                        <m:r>
                          <m:t xml:space="preserve">α</m:t>
                        </m:r>
                      </m:e>
                    </m:d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x</m:t>
                                  </m:r>
                                </m:e>
                                <m:sub>
                                  <m:r>
                                    <m:t xml:space="preserve">active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y</m:t>
                                  </m:r>
                                </m:e>
                                <m:sub>
                                  <m:r>
                                    <m:t xml:space="preserve">active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active</m:t>
                                  </m:r>
                                </m:sub>
                              </m:sSub>
                            </m:e>
                          </m:mr>
                        </m:m>
                        <m:d>
                          <m:dPr>
                            <m:begChr m:val="["/>
                            <m:endChr m:val="]"/>
                          </m:dPr>
                          <m:e>
                            <m:r>
                              <m:t xml:space="preserve">n</m:t>
                            </m:r>
                          </m:e>
                        </m:d>
                      </m:e>
                    </m:d>
                    <m:r>
                      <m:t xml:space="preserve">+</m:t>
                    </m:r>
                    <m:r>
                      <m:t xml:space="preserve">α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x</m:t>
                                  </m:r>
                                </m:e>
                                <m:sub>
                                  <m:r>
                                    <m:t xml:space="preserve">edit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y</m:t>
                                  </m:r>
                                </m:e>
                                <m:sub>
                                  <m:r>
                                    <m:t xml:space="preserve">edit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θ</m:t>
                                  </m:r>
                                </m:e>
                                <m:sub>
                                  <m:r>
                                    <m:t xml:space="preserve">edit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r>
                                    <m:t xml:space="preserve">n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228960" y="137196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Addition of return and edit functionalities: return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457200" y="2057760"/>
            <a:ext cx="10744200" cy="433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To implement return functionality, we need to store waypoints that the robot has gone to. We store it in a stack after the robot has reached the waypoint. It is stored sequentially until the return flag is detected.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If the return flag is detected, we pop the stack. The previous waypoint becomes the active waypoint.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0.3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228960" y="137196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Updates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57200" y="2057760"/>
            <a:ext cx="10515600" cy="34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Version 0.3 is an update over version 0.2 on navigation logic. The update includes: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Introduction of state machine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Yaw correction improvement by adding derivative term with filter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For this version, there is no major update on any module except the robot_control node. System architecture, Android app, and communication protocol remains the same.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0.3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228960" y="137196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Introduction of state machine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457200" y="2057760"/>
            <a:ext cx="10515600" cy="34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To enable the robot to navigate properly with the addition of return and edit functionalities, we introduce state machine to avoid undefined behaviors. There are 5 states: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IDLE: default state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NAVIGATING: when the robot is moving toward waypoint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EDIT: when the active waypoint is edited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PAUSED: when all the motion is stopped either automatically or manually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RETURN: when the robot is returning to a previous waypoint due to return flag detected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86520" y="2754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Approach: version 0.3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228960" y="137196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Yaw correction improvement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457200" y="2057760"/>
            <a:ext cx="9829800" cy="34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Proportional controller alone wasn’t sufficient for yaw correction. This version introduces PD controller for yaw with derivative filter. Angular velocity is given by:</a:t>
            </a:r>
            <a:endParaRPr b="0" lang="en-US" sz="2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6" name=""/>
              <p:cNvSpPr txBox="1"/>
              <p:nvPr/>
            </p:nvSpPr>
            <p:spPr>
              <a:xfrm>
                <a:off x="685800" y="3200400"/>
                <a:ext cx="1890360" cy="190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ω</m:t>
                    </m:r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sSub>
                      <m:e>
                        <m:r>
                          <m:t xml:space="preserve">k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sSub>
                      <m:e>
                        <m:r>
                          <m:t xml:space="preserve">e</m:t>
                        </m:r>
                      </m:e>
                      <m:sub>
                        <m:r>
                          <m:t xml:space="preserve">θ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+</m:t>
                    </m:r>
                    <m:sSub>
                      <m:e>
                        <m:r>
                          <m:t xml:space="preserve">k</m:t>
                        </m:r>
                      </m:e>
                      <m:sub>
                        <m:r>
                          <m:t xml:space="preserve">d</m:t>
                        </m:r>
                      </m:sub>
                    </m:sSub>
                    <m:acc>
                      <m:accPr>
                        <m:chr m:val="˙"/>
                      </m:accPr>
                      <m:e>
                        <m:sSub>
                          <m:e>
                            <m:r>
                              <m:t xml:space="preserve">e</m:t>
                            </m:r>
                          </m:e>
                          <m:sub>
                            <m:r>
                              <m:t xml:space="preserve">θ</m:t>
                            </m:r>
                            <m:r>
                              <m:t xml:space="preserve">,</m:t>
                            </m:r>
                            <m:r>
                              <m:t xml:space="preserve">filtered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217" name=""/>
              <p:cNvSpPr txBox="1"/>
              <p:nvPr/>
            </p:nvSpPr>
            <p:spPr>
              <a:xfrm>
                <a:off x="685800" y="3570480"/>
                <a:ext cx="2850840" cy="387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e</m:t>
                        </m:r>
                      </m:e>
                      <m:sub>
                        <m:r>
                          <m:t xml:space="preserve">θ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d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−</m:t>
                    </m:r>
                    <m:sSub>
                      <m:e>
                        <m:r>
                          <m:t xml:space="preserve">θ</m:t>
                        </m:r>
                      </m:e>
                      <m:sub>
                        <m:r>
                          <m:t xml:space="preserve">c</m:t>
                        </m:r>
                      </m:sub>
                    </m:sSub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,</m:t>
                    </m:r>
                    <m:acc>
                      <m:accPr>
                        <m:chr m:val="˙"/>
                      </m:accPr>
                      <m:e>
                        <m:sSub>
                          <m:e>
                            <m:r>
                              <m:t xml:space="preserve">e</m:t>
                            </m:r>
                          </m:e>
                          <m:sub>
                            <m:r>
                              <m:t xml:space="preserve">θ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e</m:t>
                            </m:r>
                          </m:e>
                          <m:sub>
                            <m:r>
                              <m:t xml:space="preserve">θ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</m:dPr>
                          <m:e>
                            <m:r>
                              <m:t xml:space="preserve">n</m:t>
                            </m:r>
                          </m:e>
                        </m:d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e</m:t>
                            </m:r>
                          </m:e>
                          <m:sub>
                            <m:r>
                              <m:t xml:space="preserve">θ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</m:dPr>
                          <m:e>
                            <m:r>
                              <m:t xml:space="preserve">n</m:t>
                            </m:r>
                            <m:r>
                              <m:t xml:space="preserve">−</m:t>
                            </m:r>
                            <m:r>
                              <m:t xml:space="preserve">1</m:t>
                            </m:r>
                          </m:e>
                        </m:d>
                      </m:num>
                      <m:den>
                        <m:sSub>
                          <m:e>
                            <m:r>
                              <m:t xml:space="preserve">T</m:t>
                            </m:r>
                          </m:e>
                          <m:sub>
                            <m:r>
                              <m:t xml:space="preserve">s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218" name=""/>
              <p:cNvSpPr txBox="1"/>
              <p:nvPr/>
            </p:nvSpPr>
            <p:spPr>
              <a:xfrm>
                <a:off x="685800" y="4114800"/>
                <a:ext cx="2624040" cy="212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˙"/>
                      </m:accPr>
                      <m:e>
                        <m:sSub>
                          <m:e>
                            <m:r>
                              <m:t xml:space="preserve">e</m:t>
                            </m:r>
                          </m:e>
                          <m:sub>
                            <m:r>
                              <m:t xml:space="preserve">θ</m:t>
                            </m:r>
                            <m:r>
                              <m:t xml:space="preserve">,</m:t>
                            </m:r>
                            <m:r>
                              <m:t xml:space="preserve">filtered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=</m:t>
                    </m:r>
                    <m:sSub>
                      <m:e>
                        <m:r>
                          <m:t xml:space="preserve">α</m:t>
                        </m:r>
                      </m:e>
                      <m:sub>
                        <m:r>
                          <m:t xml:space="preserve">d</m:t>
                        </m:r>
                        <m:r>
                          <m:t xml:space="preserve">,</m:t>
                        </m:r>
                        <m:r>
                          <m:t xml:space="preserve">θ</m:t>
                        </m:r>
                      </m:sub>
                    </m:sSub>
                    <m:acc>
                      <m:accPr>
                        <m:chr m:val="˙"/>
                      </m:accPr>
                      <m:e>
                        <m:sSub>
                          <m:e>
                            <m:r>
                              <m:t xml:space="preserve">e</m:t>
                            </m:r>
                          </m:e>
                          <m:sub>
                            <m:r>
                              <m:t xml:space="preserve">θ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</m:e>
                    </m:d>
                    <m:r>
                      <m:t xml:space="preserve">+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1</m:t>
                        </m:r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α</m:t>
                            </m:r>
                          </m:e>
                          <m:sub>
                            <m:r>
                              <m:t xml:space="preserve">d</m:t>
                            </m:r>
                            <m:r>
                              <m:t xml:space="preserve">,</m:t>
                            </m:r>
                            <m:r>
                              <m:t xml:space="preserve">θ</m:t>
                            </m:r>
                          </m:sub>
                        </m:sSub>
                      </m:e>
                    </m:d>
                    <m:acc>
                      <m:accPr>
                        <m:chr m:val="˙"/>
                      </m:accPr>
                      <m:e>
                        <m:sSub>
                          <m:e>
                            <m:r>
                              <m:t xml:space="preserve">e</m:t>
                            </m:r>
                          </m:e>
                          <m:sub>
                            <m:r>
                              <m:t xml:space="preserve">θ</m:t>
                            </m:r>
                          </m:sub>
                        </m:sSub>
                      </m:e>
                    </m:acc>
                    <m:d>
                      <m:dPr>
                        <m:begChr m:val="["/>
                        <m:endChr m:val="]"/>
                      </m:dPr>
                      <m:e>
                        <m:r>
                          <m:t xml:space="preserve">n</m:t>
                        </m:r>
                        <m:r>
                          <m:t xml:space="preserve">−</m:t>
                        </m:r>
                        <m:r>
                          <m:t xml:space="preserve">1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586080" y="221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Result &amp; Discussion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228960" y="133632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Data collection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85800" y="2057400"/>
            <a:ext cx="10287000" cy="391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  <a:buNone/>
            </a:pPr>
            <a:r>
              <a:rPr b="0" lang="en-US" sz="2000" spc="-1" strike="noStrike">
                <a:latin typeface="Arial"/>
              </a:rPr>
              <a:t>Although no quantitative data is recorded from the tests, the repeated qualitative observations were recorded and focused on: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Robot trajectory and waypoint assignment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Linear and angular velocity profiles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State transitions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Behavior near waypoint boundaries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Target_Setter performance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Communication system performance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86080" y="221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Result &amp; Discussion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228960" y="133632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Analysis: version 0.1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85800" y="2057400"/>
            <a:ext cx="10287000" cy="391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Communication system behavior: Target_Setter lagged under high sampling rate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Control logic behavior: 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Robot converges toward waypoint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Oscillation occurred due to high-frequency noise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86080" y="221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Result &amp; Discussion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228960" y="133632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Analysis: version 0.2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685800" y="1515600"/>
            <a:ext cx="10287000" cy="419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Control logic performance: system stability was improved due to: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Low-pass filtering on D term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Deadzone implementation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Localization drift: localization drift over long distance because: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Actuator deadzone causes small cumulative error leads to micro-correction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Mismatches between odometry-based yaw and IMU-based yaw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Undefined state behavior: unintended movement is caused by state transition conflict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Insufficiency of MVC architectural pattern: race conditions and state conflicts occurred on the app because of more sophisticated communication system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685800" y="5640480"/>
            <a:ext cx="10287000" cy="93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  <a:buNone/>
            </a:pPr>
            <a:r>
              <a:rPr b="0" lang="en-US" sz="2000" spc="-1" strike="noStrike">
                <a:latin typeface="Arial"/>
              </a:rPr>
              <a:t>The system code is developed up to version 0.3. However, the evaluation for this version is still pending.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86080" y="221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Result &amp; Discussion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228960" y="133632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System evaluation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30080" y="1510920"/>
            <a:ext cx="10386720" cy="481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PD controller with derivative filtering and deadzone exhibits critically damped response, achieving smooth waypoint convergence.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Velocity capping, deadzone compensation, and state machine supervision are necessary to prevent unsafe acceleration and drift.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Odometry drift, deadzone effects, incremental errors, and distance-based waypoint inference introduce yaw micro-corrections, causing mild oscillations over long distances.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At a 10 Hz control loop, the system adapts to waypoint modifications dynamically with minimal observable latency.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The Android MVC implementation becomes prone to race conditions and state conflicts as asynchronous complexity increases.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86080" y="221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Result &amp; Discussion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228960" y="1336320"/>
            <a:ext cx="10743840" cy="46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7030a0"/>
                </a:solidFill>
                <a:latin typeface="Bahnschrift"/>
              </a:rPr>
              <a:t>Improvement suggestions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814680" y="1828800"/>
            <a:ext cx="10386720" cy="481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Verify version 0.3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Implement a persistent data logging method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Integrate sensor fusion for localization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Implement adaptive PD gains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Enhance state management in Target_Setter app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Consider using MVVM architectural pattern for Target_Setter app 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313200" y="419400"/>
            <a:ext cx="1143000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Conclusion &amp; Next Step(s) / Future work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457920" y="18216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PD controller enables stable, smooth motion for omnidirectional robot.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Velocity limits &amp; state machine ensure safe navigation.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Minor oscillations from IMU/waypoint errors are well managed.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Bahnschrift"/>
              </a:rPr>
              <a:t>Future work: sensor fusion, adaptive gains, logging, and drift reduction.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References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838080" y="13716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000"/>
          </a:bodyPr>
          <a:p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Singh, S., “MVC Framework: A Modern Web Application Development Approach and Working,” International Research Journal of Engineering and Technology (IRJET), vol. 7, no. 1, pp. 51–55, Jan. 2020. [Online]. Available: </a:t>
            </a:r>
            <a:r>
              <a:rPr b="0" lang="en-US" sz="2400" spc="-1" strike="noStrike">
                <a:latin typeface="Arial"/>
                <a:hlinkClick r:id="rId1"/>
              </a:rPr>
              <a:t>https://www.irjet.net/archives/V7/i1/IRJET-V7I111.pdf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Nandwanya, A., “ConstraintLayout, Demystified – How It Really Works and When You Should Reach for It,” Android Engineers, Sep. 2, 2025. [Online]. Available: </a:t>
            </a:r>
            <a:r>
              <a:rPr b="0" lang="en-US" sz="2400" spc="-1" strike="noStrike">
                <a:latin typeface="Arial"/>
                <a:hlinkClick r:id="rId2"/>
              </a:rPr>
              <a:t>https://androidengineers.substack.com/p/constraintlayout-demystified-how</a:t>
            </a:r>
            <a:r>
              <a:rPr b="0" lang="en-US" sz="2400" spc="-1" strike="noStrike">
                <a:latin typeface="Arial"/>
              </a:rPr>
              <a:t>. [Accessed: Feb. 12,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“</a:t>
            </a:r>
            <a:r>
              <a:rPr b="0" lang="en-US" sz="2400" spc="-1" strike="noStrike">
                <a:latin typeface="Arial"/>
              </a:rPr>
              <a:t>MVC Framework – Architecture,” TutorialsPoint, n.d. [Online]. Available: </a:t>
            </a:r>
            <a:r>
              <a:rPr b="0" lang="en-US" sz="2400" spc="-1" strike="noStrike">
                <a:latin typeface="Arial"/>
                <a:hlinkClick r:id="rId3"/>
              </a:rPr>
              <a:t>https://www.tutorialspoint.com/mvc_framework/mvc_framework_architecture.htm</a:t>
            </a:r>
            <a:r>
              <a:rPr b="0" lang="en-US" sz="2400" spc="-1" strike="noStrike">
                <a:latin typeface="Arial"/>
              </a:rPr>
              <a:t>. [Accessed: Feb. 13,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“</a:t>
            </a:r>
            <a:r>
              <a:rPr b="0" lang="en-US" sz="2400" spc="-1" strike="noStrike">
                <a:latin typeface="Arial"/>
              </a:rPr>
              <a:t>Model-View-ViewModel (MVVM),” Microsoft Learn, n.d. [Online]. Available: </a:t>
            </a:r>
            <a:r>
              <a:rPr b="0" lang="en-US" sz="2400" spc="-1" strike="noStrike">
                <a:latin typeface="Arial"/>
                <a:hlinkClick r:id="rId4"/>
              </a:rPr>
              <a:t>https://learn.microsoft.com/en-us/dotnet/architecture/maui/mvvm</a:t>
            </a:r>
            <a:r>
              <a:rPr b="0" lang="en-US" sz="2400" spc="-1" strike="noStrike">
                <a:latin typeface="Arial"/>
              </a:rPr>
              <a:t>. [Accessed: Feb. 13,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“</a:t>
            </a:r>
            <a:r>
              <a:rPr b="0" lang="en-US" sz="2400" spc="-1" strike="noStrike">
                <a:latin typeface="Arial"/>
              </a:rPr>
              <a:t>Build a Responsive UI with ConstraintLayout,” Android Developers, n.d. [Online]. Available: </a:t>
            </a:r>
            <a:r>
              <a:rPr b="0" lang="en-US" sz="2400" spc="-1" strike="noStrike">
                <a:latin typeface="Arial"/>
                <a:hlinkClick r:id="rId5"/>
              </a:rPr>
              <a:t>https://developer.android.com/develop/ui/views/layout/constraint-layout</a:t>
            </a:r>
            <a:r>
              <a:rPr b="0" lang="en-US" sz="2400" spc="-1" strike="noStrike">
                <a:latin typeface="Arial"/>
              </a:rPr>
              <a:t>. [Accessed: Feb. 13,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“</a:t>
            </a:r>
            <a:r>
              <a:rPr b="0" lang="en-US" sz="2400" spc="-1" strike="noStrike">
                <a:latin typeface="Arial"/>
              </a:rPr>
              <a:t>Unidirectional Link vs. Bidirectional Link vs. Loopback Link,” CCNA Classes, May 27, 2021. [Online]. Available:  </a:t>
            </a:r>
            <a:r>
              <a:rPr b="0" lang="en-US" sz="2400" spc="-1" strike="noStrike">
                <a:latin typeface="Arial"/>
                <a:hlinkClick r:id="rId6"/>
              </a:rPr>
              <a:t>https://ccna-classes.com/ccna-study-resources/unidirectional-link-vs-bidirectional-link-vs-loopback-link/</a:t>
            </a:r>
            <a:r>
              <a:rPr b="0" lang="en-US" sz="2400" spc="-1" strike="noStrike">
                <a:latin typeface="Arial"/>
              </a:rPr>
              <a:t>. [Accessed: Feb. 13,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Cisco Network Academy, CCNAv7: Introduction to Networks Companion Guide. Indianapolis, IN, USA: Cisco Press, 2020.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References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838080" y="13716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9000"/>
          </a:bodyPr>
          <a:p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Dordal, P. L., “UDP Transport,” in An Introduction to Computer Networks, Desktop ed. 2.0.11, 2012. [Online]. Available: </a:t>
            </a:r>
            <a:r>
              <a:rPr b="0" lang="en-US" sz="2400" spc="-1" strike="noStrike">
                <a:latin typeface="Arial"/>
                <a:hlinkClick r:id="rId1"/>
              </a:rPr>
              <a:t>https://intronetworks.cs.luc.edu/current/html/udp.html</a:t>
            </a:r>
            <a:r>
              <a:rPr b="0" lang="en-US" sz="2400" spc="-1" strike="noStrike">
                <a:latin typeface="Arial"/>
              </a:rPr>
              <a:t> [Accessed: Feb. 14,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Verschelde, J., “Client/Server Interactions,” Programming Tools and File Management 0.7.5 Documentation, Part VI: Network Programming, 2017. [Online]. Available: </a:t>
            </a:r>
            <a:r>
              <a:rPr b="0" lang="en-US" sz="2400" spc="-1" strike="noStrike">
                <a:latin typeface="Arial"/>
                <a:hlinkClick r:id="rId2"/>
              </a:rPr>
              <a:t>https://homepages.math.uic.edu/~jan/mcs275/mcs275notes/lec27.html</a:t>
            </a:r>
            <a:r>
              <a:rPr b="0" lang="en-US" sz="2400" spc="-1" strike="noStrike">
                <a:latin typeface="Arial"/>
              </a:rPr>
              <a:t>. [Accessed: Feb. 14,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Narayana, S., “CS 352: User Datagram Protocol, Lecture 8.1,” Rutgers University, New Brunswick, n.d. [Online]. Available: </a:t>
            </a:r>
            <a:r>
              <a:rPr b="0" lang="en-US" sz="2400" spc="-1" strike="noStrike">
                <a:latin typeface="Arial"/>
                <a:hlinkClick r:id="rId3"/>
              </a:rPr>
              <a:t>https://people.cs.rutgers.edu/~sn624/352-S21/lectures/transport-udp-error-detection.pdf</a:t>
            </a:r>
            <a:r>
              <a:rPr b="0" lang="en-US" sz="2400" spc="-1" strike="noStrike">
                <a:latin typeface="Arial"/>
              </a:rPr>
              <a:t>. [Accessed: Feb. 14,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“</a:t>
            </a:r>
            <a:r>
              <a:rPr b="0" lang="en-US" sz="2400" spc="-1" strike="noStrike">
                <a:latin typeface="Arial"/>
              </a:rPr>
              <a:t>Robotic System, Section II: Modeling, Chapter 3: Coordinates and Transformations,” n.d. [Online]. Available: </a:t>
            </a:r>
            <a:r>
              <a:rPr b="0" lang="en-US" sz="2400" spc="-1" strike="noStrike">
                <a:latin typeface="Arial"/>
                <a:hlinkClick r:id="rId4"/>
              </a:rPr>
              <a:t>https://motion.cs.illinois.edu/RoboticSystems/CoordinateTransformations.html</a:t>
            </a:r>
            <a:r>
              <a:rPr b="0" lang="en-US" sz="2400" spc="-1" strike="noStrike">
                <a:latin typeface="Arial"/>
              </a:rPr>
              <a:t> . [Accessed: Feb. 15,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Kutluca, H., “Robot Operating System 2 (ROS 2) Architecture,” Medium, Dec. 6, 2020. [Online]. Available: </a:t>
            </a:r>
            <a:r>
              <a:rPr b="0" lang="en-US" sz="2400" spc="-1" strike="noStrike">
                <a:latin typeface="Arial"/>
                <a:hlinkClick r:id="rId5"/>
              </a:rPr>
              <a:t>https://medium.com/software-architecture-foundations/robot-operating-system-2-ros-2-architecture-731ef1867776</a:t>
            </a:r>
            <a:r>
              <a:rPr b="0" lang="en-US" sz="2400" spc="-1" strike="noStrike">
                <a:latin typeface="Arial"/>
              </a:rPr>
              <a:t>. [Accessed: Feb. 15,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“</a:t>
            </a:r>
            <a:r>
              <a:rPr b="0" lang="en-US" sz="2400" spc="-1" strike="noStrike">
                <a:latin typeface="Arial"/>
              </a:rPr>
              <a:t>ROS 2: What Is DDS?” RTI Community, n.d. [Online]. Available:  </a:t>
            </a:r>
            <a:r>
              <a:rPr b="0" lang="en-US" sz="2400" spc="-1" strike="noStrike">
                <a:latin typeface="Arial"/>
                <a:hlinkClick r:id="rId6"/>
              </a:rPr>
              <a:t>https://community.rti.com/page/ros-2-what-dds</a:t>
            </a:r>
            <a:r>
              <a:rPr b="0" lang="en-US" sz="2400" spc="-1" strike="noStrike">
                <a:latin typeface="Arial"/>
              </a:rPr>
              <a:t>. [Accessed: Feb. 15, 2026].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References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838080" y="13716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Silberschatz, A., Galvin, P. B., and Gagne, G., Operating System Concepts, 10th ed. Hoboken, NJ, USA: Wiley, 2018.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Open Robotics, “Nodes,” ROS 2 Documentation: Humble, 2026. [Online]. Available: </a:t>
            </a:r>
            <a:r>
              <a:rPr b="0" lang="en-US" sz="2400" spc="-1" strike="noStrike">
                <a:latin typeface="Arial"/>
                <a:hlinkClick r:id="rId1"/>
              </a:rPr>
              <a:t>https://docs.ros.org/en/humble/Concepts/Basic/About-Nodes.html</a:t>
            </a:r>
            <a:r>
              <a:rPr b="0" lang="en-US" sz="2400" spc="-1" strike="noStrike">
                <a:latin typeface="Arial"/>
              </a:rPr>
              <a:t>. [Accessed: Feb. 15,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Open Robotics, “Topics,” ROS 2 Documentation: Humble, 2026. [Online]. Available: </a:t>
            </a:r>
            <a:r>
              <a:rPr b="0" lang="en-US" sz="2400" spc="-1" strike="noStrike">
                <a:latin typeface="Arial"/>
                <a:hlinkClick r:id="rId2"/>
              </a:rPr>
              <a:t>https://docs.ros.org/en/humble/Concepts/Basic/About-Topics.html</a:t>
            </a:r>
            <a:r>
              <a:rPr b="0" lang="en-US" sz="2400" spc="-1" strike="noStrike">
                <a:latin typeface="Arial"/>
              </a:rPr>
              <a:t>. [Accessed: Feb. 15,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Open Robotics, “Interfaces,” ROS 2 Documentation: Humble, 2026. [Online]. Available: </a:t>
            </a:r>
            <a:r>
              <a:rPr b="0" lang="en-US" sz="2400" spc="-1" strike="noStrike">
                <a:latin typeface="Arial"/>
                <a:hlinkClick r:id="rId3"/>
              </a:rPr>
              <a:t>http://docs.ros.org/en/humble/Concepts/Basic/About-Interfaces.html</a:t>
            </a:r>
            <a:r>
              <a:rPr b="0" lang="en-US" sz="2400" spc="-1" strike="noStrike">
                <a:latin typeface="Arial"/>
              </a:rPr>
              <a:t>. [Accessed: Feb. 15,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Lipschutz, S., and Lipson, M. L., Schaum's Outline of Theory and Problems of Discrete Mathematics, 3rd ed. New York, NY, USA: McGraw-Hill, 2007. doi: 10.1035/0071470387.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Lee, E. A., and Varaiya, P., Structure and Interpretation of Signals and Systems. Pearson Education, 2003. [Online]. Available: </a:t>
            </a:r>
            <a:r>
              <a:rPr b="0" lang="en-US" sz="2400" spc="-1" strike="noStrike">
                <a:latin typeface="Arial"/>
                <a:hlinkClick r:id="rId4"/>
              </a:rPr>
              <a:t>https://ptolemy.berkeley.edu/projects/chess/eecs124/reading/LeeAndVaraiya3_4.pdf</a:t>
            </a:r>
            <a:r>
              <a:rPr b="0" lang="en-US" sz="2400" spc="-1" strike="noStrike">
                <a:latin typeface="Arial"/>
              </a:rPr>
              <a:t>. [Accessed: Feb. 15,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Åström, K. J., “Control System Design,” 2002. [Online]. Available: </a:t>
            </a:r>
            <a:r>
              <a:rPr b="0" lang="en-US" sz="2400" spc="-1" strike="noStrike">
                <a:latin typeface="Arial"/>
                <a:hlinkClick r:id="rId5"/>
              </a:rPr>
              <a:t>https://www.cds.caltech.edu/~murray/courses/cds101/fa02/caltech/astrom-ch6.pdf</a:t>
            </a:r>
            <a:r>
              <a:rPr b="0" lang="en-US" sz="2400" spc="-1" strike="noStrike">
                <a:latin typeface="Arial"/>
              </a:rPr>
              <a:t>. [Accessed: Feb. 16, 2026].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838080" y="2286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Bahnschrift"/>
              </a:rPr>
              <a:t>References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838080" y="1004040"/>
            <a:ext cx="10514880" cy="493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000"/>
          </a:bodyPr>
          <a:p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Boghossian, A., Brown, J., and Zak, S., “P, I, D, PI, PD, and PID Control,” LibreTexts Engineering, University of Michigan, n.d. [Online]. Available:</a:t>
            </a:r>
            <a:r>
              <a:rPr b="0" lang="en-US" sz="2400" spc="-1" strike="noStrike">
                <a:latin typeface="Arial"/>
                <a:hlinkClick r:id="rId1"/>
              </a:rPr>
              <a:t>https://eng.libretexts.org/Bookshelves/Industrial_and_Systems_Engineering/Chemical_Process_Dynamics_and_Controls_(Woolf)/09:_Proportional-Integral-Derivative_(PID)_Control/9.02:_P_I_D_PI_PD_and_PID_control</a:t>
            </a:r>
            <a:r>
              <a:rPr b="0" lang="en-US" sz="2400" spc="-1" strike="noStrike">
                <a:latin typeface="Arial"/>
              </a:rPr>
              <a:t>. [Accessed: Feb. 16, 2026].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Oliveira, H. P., et al., “Dynamic Models for Omni-directional Robots with 3 and 4 Wheels,” in Proceedings of the International Conference on Informatics in Control, Automation and Robotics (ICINCO), 2008.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Phunopas, A., and Inoue, S., “Motion Improvement of Four-Wheeled Omnidirectional Mobile Robots for Indoor Terrain,” Journal of Robotics, Networking and Artificial Life, vol. 4, no. 4, pp. 275–282, Mar. 2018.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Karnopp, D. C., Margolis, D. L., and Rosenberg, R. C., System Dynamics: Modeling, Simulation, and Control of Mechatronic Systems. Hoboken, NJ, USA: John Wiley &amp; Sons, 2012.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Lathi, B. P., Principles of Linear Systems and Signals, 2nd ed. Oxford University Press, 2009.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4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  <a:ea typeface="Noto Sans CJK SC"/>
              </a:rPr>
              <a:t>Simrock, S., “Control Theory,” DESY, Hamburg, Germany, n.d. [Online]. Available: </a:t>
            </a:r>
            <a:r>
              <a:rPr b="0" lang="en-US" sz="2400" spc="-1" strike="noStrike">
                <a:latin typeface="Arial"/>
                <a:hlinkClick r:id="rId2"/>
              </a:rPr>
              <a:t>https://cds.cern.ch/record/1100534/files/p73.pdf</a:t>
            </a:r>
            <a:r>
              <a:rPr b="0" lang="en-US" sz="2400" spc="-1" strike="noStrike">
                <a:latin typeface="Arial"/>
                <a:hlinkClick r:id="rId3"/>
              </a:rPr>
              <a:t>https://cds.cern.ch/record/1100534/files/p73.pdf</a:t>
            </a:r>
            <a:r>
              <a:rPr b="0" lang="en-US" sz="2400" spc="-1" strike="noStrike">
                <a:latin typeface="Arial"/>
                <a:hlinkClick r:id="rId4"/>
              </a:rPr>
              <a:t>https://cds.cern.ch/record/1100534/files/p73.pdf</a:t>
            </a:r>
            <a:r>
              <a:rPr b="0" lang="en-US" sz="2400" spc="-1" strike="noStrike">
                <a:latin typeface="Arial"/>
              </a:rPr>
              <a:t>. [Accessed: Feb. 16, 2026].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2022-02-14T13:30:52Z</dcterms:created>
  <dc:creator>Sarot SRANG</dc:creator>
  <dc:description/>
  <dc:language>en-US</dc:language>
  <cp:lastModifiedBy/>
  <dcterms:modified xsi:type="dcterms:W3CDTF">2026-02-20T18:34:39Z</dcterms:modified>
  <cp:revision>67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19</vt:r8>
  </property>
</Properties>
</file>